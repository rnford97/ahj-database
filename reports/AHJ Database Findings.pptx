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3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4.xml" ContentType="application/vnd.openxmlformats-officedocument.theme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slideLayouts/slideLayout13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60" r:id="rId5"/>
    <p:sldMasterId id="2147483671" r:id="rId6"/>
    <p:sldMasterId id="2147483682" r:id="rId7"/>
    <p:sldMasterId id="2147483678" r:id="rId8"/>
    <p:sldMasterId id="2147483679" r:id="rId9"/>
  </p:sldMasterIdLst>
  <p:notesMasterIdLst>
    <p:notesMasterId r:id="rId21"/>
  </p:notesMasterIdLst>
  <p:handoutMasterIdLst>
    <p:handoutMasterId r:id="rId22"/>
  </p:handoutMasterIdLst>
  <p:sldIdLst>
    <p:sldId id="256" r:id="rId10"/>
    <p:sldId id="293" r:id="rId11"/>
    <p:sldId id="270" r:id="rId12"/>
    <p:sldId id="288" r:id="rId13"/>
    <p:sldId id="281" r:id="rId14"/>
    <p:sldId id="289" r:id="rId15"/>
    <p:sldId id="290" r:id="rId16"/>
    <p:sldId id="291" r:id="rId17"/>
    <p:sldId id="292" r:id="rId18"/>
    <p:sldId id="285" r:id="rId19"/>
    <p:sldId id="28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2CDAD9F-A9CF-CA32-0B3A-ACDEA01B5C87}" name="Savong, Christindaravy@Energy" initials="SC" userId="S::christindaravy.savong@energy.ca.gov::e8c6f521-6609-4e8f-b676-2f94d2fc2ec5" providerId="AD"/>
  <p188:author id="{71F88DDB-7BB2-6F71-BFD4-DDA0A21785EC}" name="Savong, Christindaravy@Energy" initials="CS" userId="S::Christindaravy.Savong@energy.ca.gov::e8c6f521-6609-4e8f-b676-2f94d2fc2ec5" providerId="AD"/>
  <p188:author id="{8658DBE4-DE30-540B-C13C-55369D61509C}" name="Macias, Rick@Energy" initials="MR" userId="S::rick.macias@energy.ca.gov::d787c477-63eb-4778-9347-ffccb1b3b3e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795580-92E1-261A-E0E8-044596180621}" v="4" dt="2025-07-29T16:01:22.2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7.xml"/><Relationship Id="rId20" Type="http://schemas.openxmlformats.org/officeDocument/2006/relationships/slide" Target="slides/slide1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2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6.xml"/><Relationship Id="rId23" Type="http://schemas.openxmlformats.org/officeDocument/2006/relationships/presProps" Target="presProps.xml"/><Relationship Id="rId28" Type="http://schemas.microsoft.com/office/2018/10/relationships/authors" Target="authors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5.xml"/><Relationship Id="rId22" Type="http://schemas.openxmlformats.org/officeDocument/2006/relationships/handoutMaster" Target="handoutMasters/handoutMaster1.xml"/><Relationship Id="rId27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9F5774-C678-1E48-A23B-1680A328FA46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A5CF69-AC20-4D4D-9770-B6BEBB3572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3700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0CE468-BD03-B649-8E6C-392373B14A1D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17B0B1-BEA2-8948-A557-11B4BDB90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655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17B0B1-BEA2-8948-A557-11B4BDB9077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6451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Confusion Matrix based off test </a:t>
            </a:r>
            <a:r>
              <a:rPr lang="en-US" err="1">
                <a:ea typeface="Calibri"/>
                <a:cs typeface="Calibri"/>
              </a:rPr>
              <a:t>dataframe</a:t>
            </a:r>
          </a:p>
          <a:p>
            <a:r>
              <a:rPr lang="en-US">
                <a:ea typeface="Calibri"/>
                <a:cs typeface="Calibri"/>
              </a:rPr>
              <a:t>F1-score 0.9603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17B0B1-BEA2-8948-A557-11B4BDB9077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0193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53C9C-98F3-4F6A-C263-9E2EF728D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256A07-1BC1-7D84-7C0F-7E116D0CBF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E4276C-FB90-7D9C-0C2E-67F6E30187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Confusion Matrix based off test </a:t>
            </a:r>
            <a:r>
              <a:rPr lang="en-US" err="1">
                <a:ea typeface="Calibri"/>
                <a:cs typeface="Calibri"/>
              </a:rPr>
              <a:t>dataframe</a:t>
            </a:r>
          </a:p>
          <a:p>
            <a:r>
              <a:rPr lang="en-US">
                <a:ea typeface="Calibri"/>
                <a:cs typeface="Calibri"/>
              </a:rPr>
              <a:t>F1-score 0.9603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77AAE8-36C7-C028-FCEA-90431FB8E6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17B0B1-BEA2-8948-A557-11B4BDB9077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9450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98D27-4125-806A-67D4-DB30105C1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7EB8CE-65DE-F74D-0273-8EC4C2A7BF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581710-5B09-6693-9C14-B4167865D7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Confusion Matrix based off test </a:t>
            </a:r>
            <a:r>
              <a:rPr lang="en-US" err="1">
                <a:ea typeface="Calibri"/>
                <a:cs typeface="Calibri"/>
              </a:rPr>
              <a:t>dataframe</a:t>
            </a:r>
          </a:p>
          <a:p>
            <a:r>
              <a:rPr lang="en-US">
                <a:ea typeface="Calibri"/>
                <a:cs typeface="Calibri"/>
              </a:rPr>
              <a:t>F1-score 0.9603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6EC71E-9043-7654-1CE8-2F6ACAE8BE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17B0B1-BEA2-8948-A557-11B4BDB9077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3830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4AF8C-E064-DFFC-90A8-9CCD36FBD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B702BB-B0F1-CD33-86C0-B96AB2F536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80D909-3858-D984-B426-D090784E26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Confusion Matrix based off test </a:t>
            </a:r>
            <a:r>
              <a:rPr lang="en-US" err="1">
                <a:ea typeface="Calibri"/>
                <a:cs typeface="Calibri"/>
              </a:rPr>
              <a:t>dataframe</a:t>
            </a:r>
          </a:p>
          <a:p>
            <a:r>
              <a:rPr lang="en-US">
                <a:ea typeface="Calibri"/>
                <a:cs typeface="Calibri"/>
              </a:rPr>
              <a:t>F1-score 0.9603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8714E-2B3E-4C0D-E73D-F967F99BB6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17B0B1-BEA2-8948-A557-11B4BDB9077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0732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Gap #1: </a:t>
            </a:r>
            <a:r>
              <a:rPr lang="en-US"/>
              <a:t>The CEC must collect data manually from AHJs. </a:t>
            </a:r>
          </a:p>
          <a:p>
            <a:r>
              <a:rPr lang="en-US">
                <a:ea typeface="Calibri"/>
                <a:cs typeface="Calibri"/>
              </a:rPr>
              <a:t>Gap #20:</a:t>
            </a:r>
            <a:r>
              <a:rPr lang="en-US"/>
              <a:t> Sampling challenges are significant risks to uncertainty of results and credibility. </a:t>
            </a:r>
            <a:endParaRPr lang="en-US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Gap #9:</a:t>
            </a:r>
            <a:r>
              <a:rPr lang="en-US"/>
              <a:t> Limited compliance investigation coverage in rural service. </a:t>
            </a:r>
            <a:endParaRPr lang="en-US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Gap #18: </a:t>
            </a:r>
            <a:r>
              <a:rPr lang="en-US"/>
              <a:t>Higher quality permit data is required. </a:t>
            </a:r>
            <a:r>
              <a:rPr lang="en-US">
                <a:ea typeface="Calibri"/>
                <a:cs typeface="Calibri"/>
              </a:rPr>
              <a:t> </a:t>
            </a: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17B0B1-BEA2-8948-A557-11B4BDB9077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50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1: Pho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A8FD6-7F64-5E4C-97B1-FE11FAAD89FA}" type="datetime1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Enter Title Here"/>
          <p:cNvSpPr>
            <a:spLocks noGrp="1"/>
          </p:cNvSpPr>
          <p:nvPr>
            <p:ph type="title"/>
          </p:nvPr>
        </p:nvSpPr>
        <p:spPr>
          <a:xfrm>
            <a:off x="831850" y="4289258"/>
            <a:ext cx="10515600" cy="1356059"/>
          </a:xfrm>
          <a:prstGeom prst="rect">
            <a:avLst/>
          </a:prstGeom>
        </p:spPr>
        <p:txBody>
          <a:bodyPr anchor="b"/>
          <a:lstStyle>
            <a:lvl1pPr>
              <a:defRPr sz="48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831850" y="5672305"/>
            <a:ext cx="10515600" cy="6840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accent1">
                    <a:lumMod val="50000"/>
                  </a:schemeClr>
                </a:solidFill>
                <a:latin typeface="Arial Nova" panose="020B05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9" name="Picture 8" descr="State of California Energy Commission logo"/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38416" y="815165"/>
            <a:ext cx="1287050" cy="1131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212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: 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nter Title Here"/>
          <p:cNvSpPr>
            <a:spLocks noGrp="1"/>
          </p:cNvSpPr>
          <p:nvPr>
            <p:ph type="ctrTitle"/>
          </p:nvPr>
        </p:nvSpPr>
        <p:spPr>
          <a:xfrm>
            <a:off x="890016" y="809622"/>
            <a:ext cx="10411968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0016" y="3289297"/>
            <a:ext cx="10411968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24400" y="5614142"/>
            <a:ext cx="2743200" cy="365125"/>
          </a:xfrm>
        </p:spPr>
        <p:txBody>
          <a:bodyPr/>
          <a:lstStyle>
            <a:lvl1pPr algn="ctr">
              <a:defRPr/>
            </a:lvl1pPr>
          </a:lstStyle>
          <a:p>
            <a:fld id="{3D9BE262-3EE3-F74D-9197-E99064608A81}" type="datetime1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095093"/>
            <a:ext cx="4114800" cy="365125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pic>
        <p:nvPicPr>
          <p:cNvPr id="7" name="Picture 6" descr="State of California Energy Commission logo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472576" y="666179"/>
            <a:ext cx="1246850" cy="1096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4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: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nter Title Here"/>
          <p:cNvSpPr>
            <a:spLocks noGrp="1"/>
          </p:cNvSpPr>
          <p:nvPr>
            <p:ph type="title"/>
          </p:nvPr>
        </p:nvSpPr>
        <p:spPr>
          <a:xfrm>
            <a:off x="831850" y="712801"/>
            <a:ext cx="10515600" cy="2852737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592526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C74B8-448C-2642-809F-1184DC1B0B1B}" type="datetime1">
              <a:rPr lang="en-US" smtClean="0"/>
              <a:t>7/29/2025</a:t>
            </a:fld>
            <a:endParaRPr lang="en-US"/>
          </a:p>
        </p:txBody>
      </p:sp>
      <p:pic>
        <p:nvPicPr>
          <p:cNvPr id="8" name="Picture 7" descr="State of California Energy Commission logo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32062" y="4883817"/>
            <a:ext cx="1246850" cy="1096212"/>
          </a:xfrm>
          <a:prstGeom prst="rect">
            <a:avLst/>
          </a:prstGeom>
        </p:spPr>
      </p:pic>
      <p:sp>
        <p:nvSpPr>
          <p:cNvPr id="10" name="Content Placeholder 9"/>
          <p:cNvSpPr>
            <a:spLocks noGrp="1"/>
          </p:cNvSpPr>
          <p:nvPr>
            <p:ph sz="quarter" idx="13" hasCustomPrompt="1"/>
          </p:nvPr>
        </p:nvSpPr>
        <p:spPr>
          <a:xfrm>
            <a:off x="2363788" y="4813085"/>
            <a:ext cx="2911475" cy="1022350"/>
          </a:xfrm>
        </p:spPr>
        <p:txBody>
          <a:bodyPr>
            <a:noAutofit/>
          </a:bodyPr>
          <a:lstStyle>
            <a:lvl1pPr marL="0" indent="0">
              <a:buNone/>
              <a:defRPr sz="2400" baseline="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Presenters:</a:t>
            </a:r>
          </a:p>
          <a:p>
            <a:pPr lvl="0"/>
            <a:r>
              <a:rPr lang="en-US"/>
              <a:t>Name 1</a:t>
            </a:r>
          </a:p>
          <a:p>
            <a:pPr lvl="0"/>
            <a:r>
              <a:rPr lang="en-US"/>
              <a:t>Name 2</a:t>
            </a:r>
          </a:p>
        </p:txBody>
      </p:sp>
    </p:spTree>
    <p:extLst>
      <p:ext uri="{BB962C8B-B14F-4D97-AF65-F5344CB8AC3E}">
        <p14:creationId xmlns:p14="http://schemas.microsoft.com/office/powerpoint/2010/main" val="583760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2: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nter Title Here"/>
          <p:cNvSpPr>
            <a:spLocks noGrp="1"/>
          </p:cNvSpPr>
          <p:nvPr>
            <p:ph type="title"/>
          </p:nvPr>
        </p:nvSpPr>
        <p:spPr>
          <a:xfrm>
            <a:off x="838200" y="3012554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38AE9-9170-C44D-B69D-85230FA628E5}" type="datetime1">
              <a:rPr lang="en-US" smtClean="0"/>
              <a:t>7/29/2025</a:t>
            </a:fld>
            <a:endParaRPr lang="en-US"/>
          </a:p>
        </p:txBody>
      </p:sp>
      <p:pic>
        <p:nvPicPr>
          <p:cNvPr id="6" name="Picture 5" descr="State of California Energy Commission logo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38412" y="656202"/>
            <a:ext cx="1246850" cy="1096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783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: 1 fram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nter Title Her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  <a:lvl2pPr>
              <a:defRPr>
                <a:latin typeface="Arial Nova" panose="020B0504020202020204" pitchFamily="34" charset="0"/>
              </a:defRPr>
            </a:lvl2pPr>
            <a:lvl3pPr>
              <a:defRPr>
                <a:latin typeface="Arial Nova" panose="020B0504020202020204" pitchFamily="34" charset="0"/>
              </a:defRPr>
            </a:lvl3pPr>
            <a:lvl4pPr>
              <a:defRPr>
                <a:latin typeface="Arial Nova" panose="020B0504020202020204" pitchFamily="34" charset="0"/>
              </a:defRPr>
            </a:lvl4pPr>
            <a:lvl5pPr>
              <a:defRPr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800">
                <a:latin typeface="Arial Nova" panose="020B0504020202020204" pitchFamily="34" charset="0"/>
              </a:defRPr>
            </a:lvl1pPr>
          </a:lstStyle>
          <a:p>
            <a:fld id="{756C4852-C69A-3C46-A74D-F2D8C6D17F46}" type="datetime1">
              <a:rPr lang="en-US" smtClean="0"/>
              <a:pPr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80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463234"/>
            <a:ext cx="1803400" cy="365125"/>
          </a:xfrm>
        </p:spPr>
        <p:txBody>
          <a:bodyPr/>
          <a:lstStyle>
            <a:lvl1pPr>
              <a:defRPr sz="1800"/>
            </a:lvl1pPr>
          </a:lstStyle>
          <a:p>
            <a:fld id="{005C4985-ACD0-2B4C-8981-36243250F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645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t: 2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nter Title Her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  <a:lvl2pPr>
              <a:defRPr>
                <a:latin typeface="Arial Nova" panose="020B0504020202020204" pitchFamily="34" charset="0"/>
              </a:defRPr>
            </a:lvl2pPr>
            <a:lvl3pPr>
              <a:defRPr>
                <a:latin typeface="Arial Nova" panose="020B0504020202020204" pitchFamily="34" charset="0"/>
              </a:defRPr>
            </a:lvl3pPr>
            <a:lvl4pPr>
              <a:defRPr>
                <a:latin typeface="Arial Nova" panose="020B0504020202020204" pitchFamily="34" charset="0"/>
              </a:defRPr>
            </a:lvl4pPr>
            <a:lvl5pPr>
              <a:defRPr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  <a:lvl2pPr>
              <a:defRPr>
                <a:latin typeface="Arial Nova" panose="020B0504020202020204" pitchFamily="34" charset="0"/>
              </a:defRPr>
            </a:lvl2pPr>
            <a:lvl3pPr>
              <a:defRPr>
                <a:latin typeface="Arial Nova" panose="020B0504020202020204" pitchFamily="34" charset="0"/>
              </a:defRPr>
            </a:lvl3pPr>
            <a:lvl4pPr>
              <a:defRPr>
                <a:latin typeface="Arial Nova" panose="020B0504020202020204" pitchFamily="34" charset="0"/>
              </a:defRPr>
            </a:lvl4pPr>
            <a:lvl5pPr>
              <a:defRPr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800">
                <a:latin typeface="Arial Nova" panose="020B0504020202020204" pitchFamily="34" charset="0"/>
              </a:defRPr>
            </a:lvl1pPr>
          </a:lstStyle>
          <a:p>
            <a:fld id="{81C91894-EB80-6048-AAFF-32CE04FEA1F0}" type="datetime1">
              <a:rPr lang="en-US" smtClean="0"/>
              <a:pPr/>
              <a:t>7/29/2025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lang="en-US" sz="1800" kern="1200">
                <a:solidFill>
                  <a:schemeClr val="bg2">
                    <a:lumMod val="10000"/>
                  </a:schemeClr>
                </a:solidFill>
                <a:latin typeface="Arial Nova" panose="020B0504020202020204" pitchFamily="34" charset="0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800" kern="1200" smtClean="0">
                <a:solidFill>
                  <a:schemeClr val="bg2">
                    <a:lumMod val="10000"/>
                  </a:schemeClr>
                </a:solidFill>
                <a:latin typeface="Arial Nova" panose="020B0504020202020204" pitchFamily="34" charset="0"/>
                <a:ea typeface="+mn-ea"/>
                <a:cs typeface="+mn-cs"/>
              </a:defRPr>
            </a:lvl1pPr>
          </a:lstStyle>
          <a:p>
            <a:fld id="{005C4985-ACD0-2B4C-8981-36243250F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480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fld id="{9F386C1D-959B-6C44-9D8E-1EBE83060B83}" type="datetime1">
              <a:rPr lang="en-US" smtClean="0"/>
              <a:pPr/>
              <a:t>7/29/2025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fld id="{7F09A1A5-4186-AE45-B489-8F93D826EB4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Enter Title Here"/>
          <p:cNvSpPr>
            <a:spLocks noGrp="1"/>
          </p:cNvSpPr>
          <p:nvPr>
            <p:ph type="title"/>
          </p:nvPr>
        </p:nvSpPr>
        <p:spPr>
          <a:xfrm>
            <a:off x="1399822" y="237067"/>
            <a:ext cx="9953978" cy="10388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38512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ontent: 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nter Title Her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fld id="{A0A639FC-0D0B-254C-A488-84C1053DC81E}" type="datetime1">
              <a:rPr lang="en-US" smtClean="0"/>
              <a:pPr/>
              <a:t>7/29/2025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fld id="{005C4985-ACD0-2B4C-8981-36243250F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809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fld id="{EAAEF258-FE05-9A40-ABEB-3CEFD609CF46}" type="datetime1">
              <a:rPr lang="en-US" smtClean="0"/>
              <a:pPr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fld id="{7F09A1A5-4186-AE45-B489-8F93D826EB4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Enter Title Here"/>
          <p:cNvSpPr>
            <a:spLocks noGrp="1"/>
          </p:cNvSpPr>
          <p:nvPr>
            <p:ph type="title"/>
          </p:nvPr>
        </p:nvSpPr>
        <p:spPr>
          <a:xfrm>
            <a:off x="1399822" y="237067"/>
            <a:ext cx="9953978" cy="10388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1399822" y="1825625"/>
            <a:ext cx="9953978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13816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fld id="{D76D0696-7CCE-494F-A431-EAFE08099352}" type="datetime1">
              <a:rPr lang="en-US" smtClean="0"/>
              <a:pPr/>
              <a:t>7/29/2025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fld id="{7F09A1A5-4186-AE45-B489-8F93D826EB4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Enter Title Here"/>
          <p:cNvSpPr>
            <a:spLocks noGrp="1"/>
          </p:cNvSpPr>
          <p:nvPr>
            <p:ph type="title"/>
          </p:nvPr>
        </p:nvSpPr>
        <p:spPr>
          <a:xfrm>
            <a:off x="1399822" y="237067"/>
            <a:ext cx="9953978" cy="10388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207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fld id="{9F386C1D-959B-6C44-9D8E-1EBE83060B83}" type="datetime1">
              <a:rPr lang="en-US" smtClean="0"/>
              <a:pPr/>
              <a:t>7/29/2025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fld id="{7F09A1A5-4186-AE45-B489-8F93D826EB4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Enter Title Here"/>
          <p:cNvSpPr>
            <a:spLocks noGrp="1"/>
          </p:cNvSpPr>
          <p:nvPr>
            <p:ph type="title"/>
          </p:nvPr>
        </p:nvSpPr>
        <p:spPr>
          <a:xfrm>
            <a:off x="1399822" y="237067"/>
            <a:ext cx="9953978" cy="10388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644500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909F6-C5C0-404A-8B68-383F4730A3E4}" type="datetime1">
              <a:rPr lang="en-US" smtClean="0"/>
              <a:t>7/29/2025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CD1BE-76F0-964D-BEB4-4B9A284D89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521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6507B-4CCB-9B49-A0AD-E20110655715}" type="datetime1">
              <a:rPr lang="en-US" smtClean="0"/>
              <a:t>7/29/2025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0EBB6-C900-684B-B96E-D78E525AD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860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8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2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  <a:latin typeface="Arial Nova" panose="020B0504020202020204" pitchFamily="34" charset="0"/>
              </a:defRPr>
            </a:lvl1pPr>
          </a:lstStyle>
          <a:p>
            <a:fld id="{F8CC8CC8-7D7E-0A4B-9437-745D5071E9C2}" type="datetime1">
              <a:rPr lang="en-US" smtClean="0"/>
              <a:pPr/>
              <a:t>7/29/2025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627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  <a:latin typeface="Arial Nova" panose="020B0504020202020204" pitchFamily="34" charset="0"/>
              </a:defRPr>
            </a:lvl1pPr>
          </a:lstStyle>
          <a:p>
            <a:fld id="{3D34F360-0BA0-8540-B27B-28FBA28FADF7}" type="datetime1">
              <a:rPr lang="en-US" smtClean="0"/>
              <a:pPr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  <a:latin typeface="Arial Nova" panose="020B05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  <a:latin typeface="Arial Nova" panose="020B0504020202020204" pitchFamily="34" charset="0"/>
              </a:defRPr>
            </a:lvl1pPr>
          </a:lstStyle>
          <a:p>
            <a:fld id="{FCB12032-C4BC-1846-BCAE-83F2C46345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719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6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2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accent1">
              <a:lumMod val="50000"/>
            </a:schemeClr>
          </a:solidFill>
          <a:latin typeface="Arial Nova" panose="020B05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accent1">
              <a:lumMod val="50000"/>
            </a:schemeClr>
          </a:solidFill>
          <a:latin typeface="Arial Nova" panose="020B05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accent1">
              <a:lumMod val="50000"/>
            </a:schemeClr>
          </a:solidFill>
          <a:latin typeface="Arial Nova" panose="020B05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accent1">
              <a:lumMod val="50000"/>
            </a:schemeClr>
          </a:solidFill>
          <a:latin typeface="Arial Nova" panose="020B05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accent1">
              <a:lumMod val="50000"/>
            </a:schemeClr>
          </a:solidFill>
          <a:latin typeface="Arial Nova" panose="020B05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nter Title Here"/>
          <p:cNvSpPr>
            <a:spLocks noGrp="1"/>
          </p:cNvSpPr>
          <p:nvPr>
            <p:ph type="title"/>
          </p:nvPr>
        </p:nvSpPr>
        <p:spPr>
          <a:xfrm>
            <a:off x="1399822" y="237067"/>
            <a:ext cx="9953978" cy="10388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99822" y="1825625"/>
            <a:ext cx="995397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46323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fld id="{10562992-772B-3C4E-9810-F8ADBF4F57E7}" type="datetime1">
              <a:rPr lang="en-US" smtClean="0"/>
              <a:pPr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46323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463234"/>
            <a:ext cx="17610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fld id="{005C4985-ACD0-2B4C-8981-36243250F26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State of California Energy Commission logo"/>
          <p:cNvPicPr>
            <a:picLocks noChangeAspect="1"/>
          </p:cNvPicPr>
          <p:nvPr userDrawn="1"/>
        </p:nvPicPr>
        <p:blipFill>
          <a:blip r:embed="rId7"/>
          <a:srcRect/>
          <a:stretch/>
        </p:blipFill>
        <p:spPr>
          <a:xfrm>
            <a:off x="328688" y="224496"/>
            <a:ext cx="827439" cy="727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497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5" r:id="rId2"/>
    <p:sldLayoutId id="2147483692" r:id="rId3"/>
    <p:sldLayoutId id="2147483677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3E695F-21E5-C242-92E6-E78B31EE7C7E}" type="datetime1">
              <a:rPr lang="en-US" smtClean="0"/>
              <a:pPr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9A1A5-4186-AE45-B489-8F93D826EB4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Enter Title Here"/>
          <p:cNvSpPr>
            <a:spLocks noGrp="1"/>
          </p:cNvSpPr>
          <p:nvPr>
            <p:ph type="title"/>
          </p:nvPr>
        </p:nvSpPr>
        <p:spPr>
          <a:xfrm>
            <a:off x="1399822" y="237067"/>
            <a:ext cx="9953978" cy="10388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1399822" y="1825625"/>
            <a:ext cx="995397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8" descr="State of California Energy Commission logo"/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328688" y="224496"/>
            <a:ext cx="827439" cy="727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67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6" r:id="rId2"/>
    <p:sldLayoutId id="2147483687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2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accent1">
              <a:lumMod val="50000"/>
            </a:schemeClr>
          </a:solidFill>
          <a:latin typeface="Arial Nova" panose="020B05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accent1">
              <a:lumMod val="50000"/>
            </a:schemeClr>
          </a:solidFill>
          <a:latin typeface="Arial Nova" panose="020B05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accent1">
              <a:lumMod val="50000"/>
            </a:schemeClr>
          </a:solidFill>
          <a:latin typeface="Arial Nova" panose="020B05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accent1">
              <a:lumMod val="50000"/>
            </a:schemeClr>
          </a:solidFill>
          <a:latin typeface="Arial Nova" panose="020B05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accent1">
              <a:lumMod val="50000"/>
            </a:schemeClr>
          </a:solidFill>
          <a:latin typeface="Arial Nova" panose="020B05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fld id="{024D1D3D-27CC-A740-857C-D26C679943FF}" type="datetime1">
              <a:rPr lang="en-US" smtClean="0"/>
              <a:pPr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fld id="{0CDCD1BE-76F0-964D-BEB4-4B9A284D89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358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  <a:latin typeface="Arial Nova" panose="020B0504020202020204" pitchFamily="34" charset="0"/>
              </a:defRPr>
            </a:lvl1pPr>
          </a:lstStyle>
          <a:p>
            <a:fld id="{C27C9D11-B800-8947-A108-C2AFD56D7B11}" type="datetime1">
              <a:rPr lang="en-US" smtClean="0"/>
              <a:pPr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  <a:latin typeface="Arial Nova" panose="020B05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  <a:latin typeface="Arial Nova" panose="020B0504020202020204" pitchFamily="34" charset="0"/>
              </a:defRPr>
            </a:lvl1pPr>
          </a:lstStyle>
          <a:p>
            <a:fld id="{D420EBB6-C900-684B-B96E-D78E525ADD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76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transparentcalifornia.com/" TargetMode="Externa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publicpay.ca.gov/" TargetMode="Externa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1850" y="4255215"/>
            <a:ext cx="10515600" cy="1356059"/>
          </a:xfrm>
        </p:spPr>
        <p:txBody>
          <a:bodyPr lIns="91440" tIns="45720" rIns="91440" bIns="45720" anchor="b"/>
          <a:lstStyle/>
          <a:p>
            <a:r>
              <a:rPr lang="en-US" sz="3200">
                <a:solidFill>
                  <a:srgbClr val="113052"/>
                </a:solidFill>
                <a:latin typeface="Arial Black"/>
                <a:cs typeface="Calibri"/>
              </a:rPr>
              <a:t>California Energy Commission</a:t>
            </a:r>
            <a:endParaRPr lang="en-US" sz="3200">
              <a:cs typeface="Calibri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831850" y="5611274"/>
            <a:ext cx="10515600" cy="1118139"/>
          </a:xfrm>
        </p:spPr>
        <p:txBody>
          <a:bodyPr lIns="91440" tIns="45720" rIns="91440" bIns="45720" anchor="t"/>
          <a:lstStyle/>
          <a:p>
            <a:r>
              <a:rPr lang="en-US" sz="1800">
                <a:latin typeface="Arial Nova"/>
              </a:rPr>
              <a:t>Title: Compliance Rate Study – AHJ Database Update</a:t>
            </a:r>
            <a:endParaRPr lang="en-US" sz="1800">
              <a:latin typeface="Arial Nova" panose="020B0504020202020204" pitchFamily="34" charset="0"/>
            </a:endParaRPr>
          </a:p>
          <a:p>
            <a:r>
              <a:rPr lang="en-US" sz="1800">
                <a:latin typeface="Arial Nova"/>
              </a:rPr>
              <a:t>Presenter: Robert Ford, Associate Energy Specialist</a:t>
            </a:r>
          </a:p>
          <a:p>
            <a:r>
              <a:rPr lang="en-US" sz="1800">
                <a:latin typeface="Arial Nova"/>
              </a:rPr>
              <a:t>Date: June 2025</a:t>
            </a:r>
            <a:endParaRPr lang="en-US" sz="1800">
              <a:latin typeface="Arial Nova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5939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3CB6B-9931-6507-9BDC-A1CBD3ACB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B6581-221E-3DCE-79A9-A6C98276D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Purpose and 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16CA6-3357-8D40-1435-97C7B508C8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6721" y="1272392"/>
            <a:ext cx="6267187" cy="499851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200">
                <a:latin typeface="Arial Nova"/>
              </a:rPr>
              <a:t>California has funds from the federal government to improve compliance with the state's Energy Code</a:t>
            </a:r>
            <a:endParaRPr lang="en-US" sz="2200"/>
          </a:p>
          <a:p>
            <a:endParaRPr lang="en-US" sz="2200"/>
          </a:p>
          <a:p>
            <a:r>
              <a:rPr lang="en-US" sz="2200">
                <a:latin typeface="Arial Nova"/>
              </a:rPr>
              <a:t>AHJs are </a:t>
            </a:r>
            <a:r>
              <a:rPr lang="en-US" sz="2200" b="1" u="sng">
                <a:latin typeface="Arial Nova"/>
              </a:rPr>
              <a:t>resource-constrained</a:t>
            </a:r>
            <a:r>
              <a:rPr lang="en-US" sz="2200">
                <a:latin typeface="Arial Nova"/>
              </a:rPr>
              <a:t> and require additional assistance </a:t>
            </a:r>
          </a:p>
          <a:p>
            <a:endParaRPr lang="en-US" sz="2200"/>
          </a:p>
          <a:p>
            <a:r>
              <a:rPr lang="en-US" sz="2200">
                <a:latin typeface="Arial Nova"/>
              </a:rPr>
              <a:t>Benefits Californians by improving </a:t>
            </a:r>
            <a:r>
              <a:rPr lang="en-US" sz="2200" b="1" u="sng">
                <a:latin typeface="Arial Nova"/>
              </a:rPr>
              <a:t>relations </a:t>
            </a:r>
            <a:r>
              <a:rPr lang="en-US" sz="2200">
                <a:latin typeface="Arial Nova"/>
              </a:rPr>
              <a:t>between local governments and state agencies</a:t>
            </a:r>
          </a:p>
          <a:p>
            <a:endParaRPr lang="en-US" sz="2200"/>
          </a:p>
          <a:p>
            <a:r>
              <a:rPr lang="en-US" sz="2200">
                <a:latin typeface="Arial Nova"/>
              </a:rPr>
              <a:t>Increases transparency of state agencies' data collection, code compliance, and code enforcement efforts</a:t>
            </a:r>
            <a:endParaRPr lang="en-US" sz="22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F9040-37BF-A115-4F88-6B14C9EB8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C4985-ACD0-2B4C-8981-36243250F268}" type="slidenum">
              <a:rPr lang="en-US" smtClean="0"/>
              <a:t>2</a:t>
            </a:fld>
            <a:endParaRPr lang="en-US"/>
          </a:p>
        </p:txBody>
      </p:sp>
      <p:pic>
        <p:nvPicPr>
          <p:cNvPr id="8" name="Content Placeholder 7" descr="Asking questions, a catalyst for curiosity | Observatory - Institute ...">
            <a:extLst>
              <a:ext uri="{FF2B5EF4-FFF2-40B4-BE49-F238E27FC236}">
                <a16:creationId xmlns:a16="http://schemas.microsoft.com/office/drawing/2014/main" id="{494F3130-42F9-FB92-1151-BAE91D067CA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600173" y="2044450"/>
            <a:ext cx="5181600" cy="345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173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Sources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C4985-ACD0-2B4C-8981-36243250F268}" type="slidenum">
              <a:rPr lang="en-US" smtClean="0"/>
              <a:t>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84E9D0-4127-37B6-4805-A6A31D76122F}"/>
              </a:ext>
            </a:extLst>
          </p:cNvPr>
          <p:cNvSpPr txBox="1"/>
          <p:nvPr/>
        </p:nvSpPr>
        <p:spPr>
          <a:xfrm>
            <a:off x="7682630" y="2139863"/>
            <a:ext cx="305843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hlinkClick r:id="rId2"/>
              </a:rPr>
              <a:t>Transparent California</a:t>
            </a:r>
            <a:endParaRPr lang="en-US">
              <a:cs typeface="Arial" panose="020B0604020202020204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D02028-E40A-2B02-195E-C9E054DB57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987" y="1273478"/>
            <a:ext cx="6769339" cy="520874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3966CFA-9E79-23D0-ACE8-0526DAE313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3002" y="2799436"/>
            <a:ext cx="6216956" cy="368082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92964E4-D5CB-13D4-40BC-85E24C6ABC70}"/>
              </a:ext>
            </a:extLst>
          </p:cNvPr>
          <p:cNvSpPr txBox="1"/>
          <p:nvPr/>
        </p:nvSpPr>
        <p:spPr>
          <a:xfrm>
            <a:off x="7682629" y="1565753"/>
            <a:ext cx="336115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  <a:hlinkClick r:id="rId5"/>
              </a:rPr>
              <a:t>Gov. Compensation California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586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Caveats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6721" y="1272392"/>
            <a:ext cx="7634612" cy="499851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200">
                <a:latin typeface="Arial Nova"/>
              </a:rPr>
              <a:t>Dataset: </a:t>
            </a:r>
            <a:r>
              <a:rPr lang="en-US" sz="2200" b="1" u="sng">
                <a:latin typeface="Arial Nova"/>
              </a:rPr>
              <a:t>2023 GCC City</a:t>
            </a:r>
            <a:endParaRPr lang="en-US" sz="2200" b="1" u="sng"/>
          </a:p>
          <a:p>
            <a:r>
              <a:rPr lang="en-US" sz="2200">
                <a:latin typeface="Arial Nova"/>
              </a:rPr>
              <a:t>"Missing Data" on City &amp; County maps</a:t>
            </a:r>
          </a:p>
          <a:p>
            <a:endParaRPr lang="en-US" sz="2200">
              <a:latin typeface="Arial Nova"/>
            </a:endParaRPr>
          </a:p>
          <a:p>
            <a:pPr lvl="1"/>
            <a:r>
              <a:rPr lang="en-US" sz="2200">
                <a:latin typeface="Arial Nova"/>
              </a:rPr>
              <a:t>Missing Counties: </a:t>
            </a:r>
            <a:r>
              <a:rPr lang="en-US" sz="2200" b="1">
                <a:latin typeface="Arial Nova"/>
              </a:rPr>
              <a:t>3 </a:t>
            </a:r>
            <a:r>
              <a:rPr lang="en-US" sz="2200">
                <a:latin typeface="Arial Nova"/>
              </a:rPr>
              <a:t>(Alpine, Mariposa, Trinity)</a:t>
            </a:r>
          </a:p>
          <a:p>
            <a:pPr lvl="1"/>
            <a:endParaRPr lang="en-US" sz="2200">
              <a:latin typeface="Arial Nova"/>
            </a:endParaRPr>
          </a:p>
          <a:p>
            <a:pPr lvl="1"/>
            <a:r>
              <a:rPr lang="en-US" sz="2200">
                <a:latin typeface="Arial Nova"/>
              </a:rPr>
              <a:t>Missing Cities: </a:t>
            </a:r>
            <a:r>
              <a:rPr lang="en-US" sz="2200" b="1">
                <a:latin typeface="Arial Nova"/>
              </a:rPr>
              <a:t>14 </a:t>
            </a:r>
            <a:r>
              <a:rPr lang="en-US" sz="2200">
                <a:latin typeface="Arial Nova"/>
              </a:rPr>
              <a:t>(Amador City, Firebaugh, Bradbury, Hidden Hills, La Cañada Flintridge, Point Arena, Mountain House, Paso Robles, Atherton, </a:t>
            </a:r>
            <a:r>
              <a:rPr lang="en-US" sz="2200" err="1">
                <a:latin typeface="Arial Nova"/>
              </a:rPr>
              <a:t>Colma</a:t>
            </a:r>
            <a:r>
              <a:rPr lang="en-US" sz="2200">
                <a:latin typeface="Arial Nova"/>
              </a:rPr>
              <a:t>, Dorris, Mount Shasta, Tehama, Ventura)</a:t>
            </a:r>
            <a:endParaRPr lang="en-US" sz="2200"/>
          </a:p>
          <a:p>
            <a:pPr lvl="1"/>
            <a:endParaRPr lang="en-US" sz="2200">
              <a:latin typeface="Arial Nova"/>
            </a:endParaRPr>
          </a:p>
          <a:p>
            <a:pPr lvl="1"/>
            <a:r>
              <a:rPr lang="en-US" sz="2200">
                <a:latin typeface="Arial Nova"/>
              </a:rPr>
              <a:t>Cities vs Towns vs "Unincorporated Area"</a:t>
            </a:r>
            <a:endParaRPr lang="en-US" sz="2200"/>
          </a:p>
          <a:p>
            <a:pPr lvl="2"/>
            <a:r>
              <a:rPr lang="en-US" sz="2200">
                <a:latin typeface="Arial Nova"/>
              </a:rPr>
              <a:t>Separating / Classifying this from </a:t>
            </a:r>
            <a:r>
              <a:rPr lang="en-US" sz="2200" err="1">
                <a:latin typeface="Arial Nova"/>
              </a:rPr>
              <a:t>GeoData</a:t>
            </a:r>
            <a:r>
              <a:rPr lang="en-US" sz="2200">
                <a:latin typeface="Arial Nova"/>
              </a:rPr>
              <a:t> is difficult</a:t>
            </a:r>
          </a:p>
          <a:p>
            <a:pPr lvl="2"/>
            <a:r>
              <a:rPr lang="en-US" sz="2200">
                <a:latin typeface="Arial Nova"/>
              </a:rPr>
              <a:t>No current </a:t>
            </a:r>
            <a:r>
              <a:rPr lang="en-US" sz="2200" err="1">
                <a:latin typeface="Arial Nova"/>
              </a:rPr>
              <a:t>geojson</a:t>
            </a:r>
            <a:r>
              <a:rPr lang="en-US" sz="2200">
                <a:latin typeface="Arial Nova"/>
              </a:rPr>
              <a:t>/shapefile for this</a:t>
            </a:r>
            <a:endParaRPr lang="en-US" sz="2200"/>
          </a:p>
        </p:txBody>
      </p:sp>
      <p:pic>
        <p:nvPicPr>
          <p:cNvPr id="6" name="Content Placeholder 5" descr="Best Practices for Handling Missing Data in ESM Research: A ...">
            <a:extLst>
              <a:ext uri="{FF2B5EF4-FFF2-40B4-BE49-F238E27FC236}">
                <a16:creationId xmlns:a16="http://schemas.microsoft.com/office/drawing/2014/main" id="{68A79DF2-1F32-D17E-5BD1-4A64AB5EC79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l="14919" r="15524" b="352"/>
          <a:stretch>
            <a:fillRect/>
          </a:stretch>
        </p:blipFill>
        <p:spPr>
          <a:xfrm>
            <a:off x="7967597" y="2167043"/>
            <a:ext cx="3604145" cy="294827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C4985-ACD0-2B4C-8981-36243250F26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502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Relevance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C4985-ACD0-2B4C-8981-36243250F268}" type="slidenum">
              <a:rPr lang="en-US" smtClean="0"/>
              <a:t>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9C3884-0D3B-E200-523F-129C51411A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152" y="1446365"/>
            <a:ext cx="5586216" cy="37147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5E5B859-900A-DA22-EBC3-A01B615731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9283" y="1442450"/>
            <a:ext cx="3255463" cy="24177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9DCA12-FA6B-5C31-3FCE-975139CB65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49283" y="3864149"/>
            <a:ext cx="3255463" cy="241778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2E92570-426C-E3B5-2A11-CB7CCAAB8E50}"/>
              </a:ext>
            </a:extLst>
          </p:cNvPr>
          <p:cNvSpPr txBox="1"/>
          <p:nvPr/>
        </p:nvSpPr>
        <p:spPr>
          <a:xfrm>
            <a:off x="271397" y="2192054"/>
            <a:ext cx="207723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cs typeface="Arial"/>
              </a:rPr>
              <a:t>Training Set = 103,310 positions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C520A4-59C1-C429-F09F-FD940B693347}"/>
              </a:ext>
            </a:extLst>
          </p:cNvPr>
          <p:cNvSpPr txBox="1"/>
          <p:nvPr/>
        </p:nvSpPr>
        <p:spPr>
          <a:xfrm>
            <a:off x="271397" y="4749450"/>
            <a:ext cx="207723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cs typeface="Arial"/>
              </a:rPr>
              <a:t>Test Set = 241,056 positions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C2AE58-1F24-F551-FB5C-6F139672A800}"/>
              </a:ext>
            </a:extLst>
          </p:cNvPr>
          <p:cNvSpPr txBox="1"/>
          <p:nvPr/>
        </p:nvSpPr>
        <p:spPr>
          <a:xfrm>
            <a:off x="6784932" y="5208740"/>
            <a:ext cx="45719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cs typeface="Arial"/>
              </a:rPr>
              <a:t>Filtered Set ~ 15k – 22k Relevant Positions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313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95E46-AE98-61E8-4F88-1A7478D27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6FE8F0D-D505-224C-FF3F-D11472956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Results: Base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4E472F-5AF8-808E-81FB-5191EFDB2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C4985-ACD0-2B4C-8981-36243250F268}" type="slidenum">
              <a:rPr lang="en-US" smtClean="0"/>
              <a:t>6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5B20DF1-B695-FEBC-95B6-75F6ECB689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9602" y="1290483"/>
            <a:ext cx="4879762" cy="5174227"/>
          </a:xfrm>
          <a:prstGeom prst="rect">
            <a:avLst/>
          </a:prstGeom>
        </p:spPr>
      </p:pic>
      <p:pic>
        <p:nvPicPr>
          <p:cNvPr id="11" name="Content Placeholder 1">
            <a:extLst>
              <a:ext uri="{FF2B5EF4-FFF2-40B4-BE49-F238E27FC236}">
                <a16:creationId xmlns:a16="http://schemas.microsoft.com/office/drawing/2014/main" id="{DC1A4A06-4B4C-ADD8-7BFB-CE7CD5B64A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0791" y="1284851"/>
            <a:ext cx="4898869" cy="5174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420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6F9E2-7504-9B22-E94F-683A9AD06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3D0E552-5EA9-659F-7698-AFFA4097D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Results: Filtered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9DDF26-E38B-E834-1CF3-B9780E0A4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C4985-ACD0-2B4C-8981-36243250F268}" type="slidenum">
              <a:rPr lang="en-US" smtClean="0"/>
              <a:t>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485EEC-7E20-F009-A7C2-02F3A1C31A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860" y="1069257"/>
            <a:ext cx="5027247" cy="539545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4661062-85AA-FB92-9CCA-43B7CE2311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1893" y="1069258"/>
            <a:ext cx="5014957" cy="5395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6335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09AB0-89C7-0AB4-862A-A6E3D46CE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0C020F5-0EB2-2A8E-B661-ECDDBCCFF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Results: Binned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C37022-3064-0D44-49AA-17A1E4843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C4985-ACD0-2B4C-8981-36243250F268}" type="slidenum">
              <a:rPr lang="en-US" smtClean="0"/>
              <a:t>8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1EB31A6-D197-7790-CEC1-8B47A10465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03" y="1118418"/>
            <a:ext cx="4585600" cy="53462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1989FDE-15E6-A550-BD96-AA529F9FDB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797" y="1118419"/>
            <a:ext cx="4585600" cy="5346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2598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AF40F-C41A-78E0-56A8-74B9E86AD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A91FF-B005-0345-0550-7F9F1069A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Recommendations and 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944DB2-2298-DFB2-5A20-29AB498CEE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6721" y="1383004"/>
            <a:ext cx="7167580" cy="4887904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200">
                <a:latin typeface="Arial Nova"/>
              </a:rPr>
              <a:t>More robust sourcing and verification of personnel for actual AHJ / Building Department representation</a:t>
            </a:r>
          </a:p>
          <a:p>
            <a:pPr lvl="1"/>
            <a:r>
              <a:rPr lang="en-US" sz="2200">
                <a:latin typeface="Arial Nova"/>
              </a:rPr>
              <a:t>Gap #1 – Practical Gap</a:t>
            </a:r>
            <a:endParaRPr lang="en-US" sz="2200"/>
          </a:p>
          <a:p>
            <a:pPr lvl="1"/>
            <a:endParaRPr lang="en-US" sz="2200">
              <a:latin typeface="Arial Nova"/>
            </a:endParaRPr>
          </a:p>
          <a:p>
            <a:r>
              <a:rPr lang="en-US" sz="2200">
                <a:latin typeface="Arial Nova"/>
              </a:rPr>
              <a:t>Allocating specific resources to cover cities / counties with low data representation</a:t>
            </a:r>
          </a:p>
          <a:p>
            <a:pPr marL="685800" lvl="2">
              <a:spcBef>
                <a:spcPts val="1000"/>
              </a:spcBef>
            </a:pPr>
            <a:r>
              <a:rPr lang="en-US" sz="2200">
                <a:latin typeface="Arial Nova"/>
              </a:rPr>
              <a:t>Gap #9 – Data Gap</a:t>
            </a:r>
          </a:p>
          <a:p>
            <a:pPr marL="685800" lvl="2"/>
            <a:endParaRPr lang="en-US" sz="2200">
              <a:latin typeface="Arial Nova"/>
            </a:endParaRPr>
          </a:p>
          <a:p>
            <a:r>
              <a:rPr lang="en-US" sz="2200">
                <a:latin typeface="Arial Nova"/>
              </a:rPr>
              <a:t>Lengthy process, start sooner than later</a:t>
            </a:r>
            <a:endParaRPr lang="en-US" sz="2200"/>
          </a:p>
          <a:p>
            <a:pPr lvl="1"/>
            <a:r>
              <a:rPr lang="en-US" sz="2200">
                <a:latin typeface="Arial Nova"/>
              </a:rPr>
              <a:t>Gap #18 – Data Gap</a:t>
            </a:r>
          </a:p>
          <a:p>
            <a:pPr lvl="1"/>
            <a:r>
              <a:rPr lang="en-US" sz="2200">
                <a:latin typeface="Arial Nova"/>
              </a:rPr>
              <a:t>Gap #20 – Data Gap</a:t>
            </a:r>
            <a:endParaRPr lang="en-US" sz="22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324C4-C35D-B18A-55CF-41C05B4FA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C4985-ACD0-2B4C-8981-36243250F268}" type="slidenum">
              <a:rPr lang="en-US" smtClean="0"/>
              <a:t>9</a:t>
            </a:fld>
            <a:endParaRPr lang="en-US"/>
          </a:p>
        </p:txBody>
      </p:sp>
      <p:pic>
        <p:nvPicPr>
          <p:cNvPr id="11" name="Content Placeholder 10" descr="Next Up Projects | Photos, videos, logos, illustrations and branding on ...">
            <a:extLst>
              <a:ext uri="{FF2B5EF4-FFF2-40B4-BE49-F238E27FC236}">
                <a16:creationId xmlns:a16="http://schemas.microsoft.com/office/drawing/2014/main" id="{D0B6145D-1DBF-52C7-07BD-8B541CB1BE8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490337" y="2066183"/>
            <a:ext cx="3848100" cy="300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69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7375979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Slide Layout 5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43B646-68BF-614F-2B59-D9A052B7BA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C92B951-B370-629F-F099-26B644680CE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E95BBEB-33A7-7C4A-E814-D6EA02021C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A89CF9D-0467-F255-21DD-5BF79F4E878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9A1A5-4186-AE45-B489-8F93D826EB4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658223"/>
      </p:ext>
    </p:extLst>
  </p:cSld>
  <p:clrMapOvr>
    <a:masterClrMapping/>
  </p:clrMapOvr>
</p:sld>
</file>

<file path=ppt/theme/theme1.xml><?xml version="1.0" encoding="utf-8"?>
<a:theme xmlns:a="http://schemas.openxmlformats.org/drawingml/2006/main" name="Title">
  <a:themeElements>
    <a:clrScheme name="Custom 7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2190C8"/>
      </a:hlink>
      <a:folHlink>
        <a:srgbClr val="85DFD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F8471DC0-FD0D-2A4C-9BB3-08E53AAB98E1}" vid="{B8AAD638-0C9A-074A-A1F5-9C25FAF37ABD}"/>
    </a:ext>
  </a:extLst>
</a:theme>
</file>

<file path=ppt/theme/theme2.xml><?xml version="1.0" encoding="utf-8"?>
<a:theme xmlns:a="http://schemas.openxmlformats.org/drawingml/2006/main" name="Title/Section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F8471DC0-FD0D-2A4C-9BB3-08E53AAB98E1}" vid="{363AC6BA-222D-6A42-A86E-42D4213EA914}"/>
    </a:ext>
  </a:extLst>
</a:theme>
</file>

<file path=ppt/theme/theme3.xml><?xml version="1.0" encoding="utf-8"?>
<a:theme xmlns:a="http://schemas.openxmlformats.org/drawingml/2006/main" name="Content">
  <a:themeElements>
    <a:clrScheme name="Accessibility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2190C8"/>
      </a:hlink>
      <a:folHlink>
        <a:srgbClr val="7030A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F8471DC0-FD0D-2A4C-9BB3-08E53AAB98E1}" vid="{3BF250F5-90E0-1742-AE67-252F8E9F95CF}"/>
    </a:ext>
  </a:extLst>
</a:theme>
</file>

<file path=ppt/theme/theme4.xml><?xml version="1.0" encoding="utf-8"?>
<a:theme xmlns:a="http://schemas.openxmlformats.org/drawingml/2006/main" name="Content: blank background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F8471DC0-FD0D-2A4C-9BB3-08E53AAB98E1}" vid="{8AF470B7-4331-9747-8595-3EF89398B172}"/>
    </a:ext>
  </a:extLst>
</a:theme>
</file>

<file path=ppt/theme/theme5.xml><?xml version="1.0" encoding="utf-8"?>
<a:theme xmlns:a="http://schemas.openxmlformats.org/drawingml/2006/main" name="Blank: Black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F8471DC0-FD0D-2A4C-9BB3-08E53AAB98E1}" vid="{D4AADE59-C35C-A140-B257-2E4365C638F0}"/>
    </a:ext>
  </a:extLst>
</a:theme>
</file>

<file path=ppt/theme/theme6.xml><?xml version="1.0" encoding="utf-8"?>
<a:theme xmlns:a="http://schemas.openxmlformats.org/drawingml/2006/main" name="Blank: Whit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F8471DC0-FD0D-2A4C-9BB3-08E53AAB98E1}" vid="{87E2F548-F85F-094D-8DDA-3AF7BD174F24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1DC9A153AAEEE45BACE06E01F8272AC" ma:contentTypeVersion="17" ma:contentTypeDescription="Create a new document." ma:contentTypeScope="" ma:versionID="89de3611917157b7bcfec79458841576">
  <xsd:schema xmlns:xsd="http://www.w3.org/2001/XMLSchema" xmlns:xs="http://www.w3.org/2001/XMLSchema" xmlns:p="http://schemas.microsoft.com/office/2006/metadata/properties" xmlns:ns2="785685f2-c2e1-4352-89aa-3faca8eaba52" xmlns:ns3="5067c814-4b34-462c-a21d-c185ff6548d2" targetNamespace="http://schemas.microsoft.com/office/2006/metadata/properties" ma:root="true" ma:fieldsID="cb0c811e8af9167bc13eb17de89cd7b2" ns2:_="" ns3:_="">
    <xsd:import namespace="785685f2-c2e1-4352-89aa-3faca8eaba52"/>
    <xsd:import namespace="5067c814-4b34-462c-a21d-c185ff6548d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not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5685f2-c2e1-4352-89aa-3faca8eaba5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note" ma:index="18" nillable="true" ma:displayName="note" ma:format="Dropdown" ma:internalName="note">
      <xsd:simpleType>
        <xsd:restriction base="dms:Text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96df981b-247c-4b11-954d-40cb1951968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67c814-4b34-462c-a21d-c185ff6548d2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569b5e3c-1897-4e33-84fe-bcccbae8b075}" ma:internalName="TaxCatchAll" ma:showField="CatchAllData" ma:web="5067c814-4b34-462c-a21d-c185ff6548d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85685f2-c2e1-4352-89aa-3faca8eaba52">
      <Terms xmlns="http://schemas.microsoft.com/office/infopath/2007/PartnerControls"/>
    </lcf76f155ced4ddcb4097134ff3c332f>
    <TaxCatchAll xmlns="5067c814-4b34-462c-a21d-c185ff6548d2" xsi:nil="true"/>
    <SharedWithUsers xmlns="5067c814-4b34-462c-a21d-c185ff6548d2">
      <UserInfo>
        <DisplayName>Carrillo, Deana@Energy</DisplayName>
        <AccountId>1433</AccountId>
        <AccountType/>
      </UserInfo>
    </SharedWithUsers>
    <note xmlns="785685f2-c2e1-4352-89aa-3faca8eaba52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CB3C26B-E68B-4315-A4A0-4195F522EED8}">
  <ds:schemaRefs>
    <ds:schemaRef ds:uri="5067c814-4b34-462c-a21d-c185ff6548d2"/>
    <ds:schemaRef ds:uri="785685f2-c2e1-4352-89aa-3faca8eaba5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F6E627A7-8879-4DD6-ADF6-8C4F6EE8B27F}">
  <ds:schemaRefs>
    <ds:schemaRef ds:uri="5067c814-4b34-462c-a21d-c185ff6548d2"/>
    <ds:schemaRef ds:uri="785685f2-c2e1-4352-89aa-3faca8eaba52"/>
    <ds:schemaRef ds:uri="801e77cb-1273-4e40-b8f1-9aae6d3a09af"/>
    <ds:schemaRef ds:uri="cd48f32a-b70c-4848-9fb2-a8ff929fd44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4B3D5CAA-559C-41EB-8A66-B062E011B7D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CEC_Official_PowerPoint_Template_2020 (1)</Template>
  <Application>Microsoft Office PowerPoint</Application>
  <PresentationFormat>Widescreen</PresentationFormat>
  <Slides>11</Slides>
  <Notes>6</Notes>
  <HiddenSlides>0</HiddenSlides>
  <ScaleCrop>false</ScaleCrop>
  <HeadingPairs>
    <vt:vector size="4" baseType="variant">
      <vt:variant>
        <vt:lpstr>Theme</vt:lpstr>
      </vt:variant>
      <vt:variant>
        <vt:i4>6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Title</vt:lpstr>
      <vt:lpstr>Title/Section</vt:lpstr>
      <vt:lpstr>Content</vt:lpstr>
      <vt:lpstr>Content: blank background</vt:lpstr>
      <vt:lpstr>Blank: Black</vt:lpstr>
      <vt:lpstr>Blank: White</vt:lpstr>
      <vt:lpstr>California Energy Commission</vt:lpstr>
      <vt:lpstr>Purpose and Benefits</vt:lpstr>
      <vt:lpstr>Data Sources</vt:lpstr>
      <vt:lpstr>Data Caveats</vt:lpstr>
      <vt:lpstr>Relevance</vt:lpstr>
      <vt:lpstr>Results: Base</vt:lpstr>
      <vt:lpstr>Results: Filtered</vt:lpstr>
      <vt:lpstr>Results: Binned</vt:lpstr>
      <vt:lpstr>Recommendations and Next Steps</vt:lpstr>
      <vt:lpstr>Thank You!</vt:lpstr>
      <vt:lpstr>Slide Layout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CEC Official PowerPoint Template</dc:title>
  <dc:creator>California Energy Commission</dc:creator>
  <dc:description>Updated 8/15/24._x000d_
_x000d_
Template approved 3/25/2022_x000d_
by MPCO and Digital Accessibility Coordinator.</dc:description>
  <cp:revision>4</cp:revision>
  <cp:lastPrinted>2019-12-11T23:19:58Z</cp:lastPrinted>
  <dcterms:created xsi:type="dcterms:W3CDTF">2020-03-06T19:07:21Z</dcterms:created>
  <dcterms:modified xsi:type="dcterms:W3CDTF">2025-07-29T21:07:52Z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0x01010061DC9A153AAEEE45BACE06E01F8272AC</vt:lpwstr>
  </property>
  <property fmtid="{D5CDD505-2E9C-101B-9397-08002B2CF9AE}" pid="3" name="MediaServiceImageTags">
    <vt:lpwstr/>
  </property>
</Properties>
</file>